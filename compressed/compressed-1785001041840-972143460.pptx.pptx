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6" r:id="rId3"/>
    <p:sldId id="262" r:id="rId4"/>
    <p:sldId id="257" r:id="rId5"/>
    <p:sldId id="258"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93162C-D37C-4CA1-B6E4-DEBABA054DF1}" type="datetimeFigureOut">
              <a:rPr lang="en-US" smtClean="0"/>
              <a:t>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3319459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93162C-D37C-4CA1-B6E4-DEBABA054DF1}" type="datetimeFigureOut">
              <a:rPr lang="en-US" smtClean="0"/>
              <a:t>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512122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93162C-D37C-4CA1-B6E4-DEBABA054DF1}" type="datetimeFigureOut">
              <a:rPr lang="en-US" smtClean="0"/>
              <a:t>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1125016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93162C-D37C-4CA1-B6E4-DEBABA054DF1}" type="datetimeFigureOut">
              <a:rPr lang="en-US" smtClean="0"/>
              <a:t>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2317849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93162C-D37C-4CA1-B6E4-DEBABA054DF1}" type="datetimeFigureOut">
              <a:rPr lang="en-US" smtClean="0"/>
              <a:t>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3137164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93162C-D37C-4CA1-B6E4-DEBABA054DF1}" type="datetimeFigureOut">
              <a:rPr lang="en-US" smtClean="0"/>
              <a:t>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109134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93162C-D37C-4CA1-B6E4-DEBABA054DF1}" type="datetimeFigureOut">
              <a:rPr lang="en-US" smtClean="0"/>
              <a:t>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2144375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93162C-D37C-4CA1-B6E4-DEBABA054DF1}" type="datetimeFigureOut">
              <a:rPr lang="en-US" smtClean="0"/>
              <a:t>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2504435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93162C-D37C-4CA1-B6E4-DEBABA054DF1}" type="datetimeFigureOut">
              <a:rPr lang="en-US" smtClean="0"/>
              <a:t>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3390578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93162C-D37C-4CA1-B6E4-DEBABA054DF1}" type="datetimeFigureOut">
              <a:rPr lang="en-US" smtClean="0"/>
              <a:t>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365510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93162C-D37C-4CA1-B6E4-DEBABA054DF1}" type="datetimeFigureOut">
              <a:rPr lang="en-US" smtClean="0"/>
              <a:t>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9F0C2-D586-4FCF-9560-401CB076A4B7}" type="slidenum">
              <a:rPr lang="en-US" smtClean="0"/>
              <a:t>‹#›</a:t>
            </a:fld>
            <a:endParaRPr lang="en-US"/>
          </a:p>
        </p:txBody>
      </p:sp>
    </p:spTree>
    <p:extLst>
      <p:ext uri="{BB962C8B-B14F-4D97-AF65-F5344CB8AC3E}">
        <p14:creationId xmlns:p14="http://schemas.microsoft.com/office/powerpoint/2010/main" val="3822863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93162C-D37C-4CA1-B6E4-DEBABA054DF1}" type="datetimeFigureOut">
              <a:rPr lang="en-US" smtClean="0"/>
              <a:t>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49F0C2-D586-4FCF-9560-401CB076A4B7}" type="slidenum">
              <a:rPr lang="en-US" smtClean="0"/>
              <a:t>‹#›</a:t>
            </a:fld>
            <a:endParaRPr lang="en-US"/>
          </a:p>
        </p:txBody>
      </p:sp>
    </p:spTree>
    <p:extLst>
      <p:ext uri="{BB962C8B-B14F-4D97-AF65-F5344CB8AC3E}">
        <p14:creationId xmlns:p14="http://schemas.microsoft.com/office/powerpoint/2010/main" val="1171941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Foreign policy</a:t>
            </a:r>
            <a:endParaRPr lang="en-US" dirty="0"/>
          </a:p>
        </p:txBody>
      </p:sp>
      <p:sp>
        <p:nvSpPr>
          <p:cNvPr id="3" name="Content Placeholder 2"/>
          <p:cNvSpPr>
            <a:spLocks noGrp="1"/>
          </p:cNvSpPr>
          <p:nvPr>
            <p:ph idx="1"/>
          </p:nvPr>
        </p:nvSpPr>
        <p:spPr/>
        <p:txBody>
          <a:bodyPr>
            <a:normAutofit lnSpcReduction="10000"/>
          </a:bodyPr>
          <a:lstStyle/>
          <a:p>
            <a:r>
              <a:rPr lang="en-US" dirty="0" smtClean="0"/>
              <a:t>The term on which state  conduct its relations.</a:t>
            </a:r>
          </a:p>
          <a:p>
            <a:r>
              <a:rPr lang="en-US" dirty="0" smtClean="0"/>
              <a:t>Foreign policy is the key element in the process by which a state translates its broadly conceived goals and interests into concrete course of action to attain these objectives and preserve interest (</a:t>
            </a:r>
            <a:r>
              <a:rPr lang="en-US" dirty="0" err="1" smtClean="0"/>
              <a:t>Padelford</a:t>
            </a:r>
            <a:r>
              <a:rPr lang="en-US" dirty="0" smtClean="0"/>
              <a:t> &amp; Lincoln, 1962)</a:t>
            </a:r>
          </a:p>
          <a:p>
            <a:r>
              <a:rPr lang="en-US" dirty="0" smtClean="0"/>
              <a:t>Purpose &gt; place in int. community &gt;sustain sovereignty and integrity</a:t>
            </a:r>
          </a:p>
          <a:p>
            <a:r>
              <a:rPr lang="en-US" dirty="0" smtClean="0"/>
              <a:t>Formulation of FP&gt; A&gt; President, PM&gt; Foreign Minister&gt; foreign Office&gt;military establishment and NSC</a:t>
            </a:r>
          </a:p>
          <a:p>
            <a:r>
              <a:rPr lang="en-US" dirty="0" smtClean="0"/>
              <a:t>B &gt;Intermediary structure&gt; Parliament</a:t>
            </a:r>
          </a:p>
          <a:p>
            <a:r>
              <a:rPr lang="en-US" dirty="0" smtClean="0"/>
              <a:t>C&gt; Outer Structure&gt;Pubic opinion</a:t>
            </a:r>
          </a:p>
          <a:p>
            <a:endParaRPr lang="en-US" dirty="0" smtClean="0"/>
          </a:p>
          <a:p>
            <a:endParaRPr lang="en-US" dirty="0"/>
          </a:p>
        </p:txBody>
      </p:sp>
    </p:spTree>
    <p:extLst>
      <p:ext uri="{BB962C8B-B14F-4D97-AF65-F5344CB8AC3E}">
        <p14:creationId xmlns:p14="http://schemas.microsoft.com/office/powerpoint/2010/main" val="31328859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015530"/>
          </a:xfrm>
        </p:spPr>
        <p:txBody>
          <a:bodyPr/>
          <a:lstStyle/>
          <a:p>
            <a:r>
              <a:rPr lang="en-US" dirty="0" smtClean="0"/>
              <a:t>Foreign Policy</a:t>
            </a:r>
            <a:endParaRPr lang="en-US" dirty="0"/>
          </a:p>
        </p:txBody>
      </p:sp>
      <p:sp>
        <p:nvSpPr>
          <p:cNvPr id="3" name="Subtitle 2"/>
          <p:cNvSpPr>
            <a:spLocks noGrp="1"/>
          </p:cNvSpPr>
          <p:nvPr>
            <p:ph type="subTitle" idx="1"/>
          </p:nvPr>
        </p:nvSpPr>
        <p:spPr>
          <a:xfrm>
            <a:off x="1429555" y="2550017"/>
            <a:ext cx="9238445" cy="2707783"/>
          </a:xfrm>
        </p:spPr>
        <p:txBody>
          <a:bodyPr>
            <a:noAutofit/>
          </a:bodyPr>
          <a:lstStyle/>
          <a:p>
            <a:pPr algn="l"/>
            <a:r>
              <a:rPr lang="en-US" sz="1800" b="1" dirty="0" smtClean="0"/>
              <a:t>According to </a:t>
            </a:r>
            <a:r>
              <a:rPr lang="en-US" sz="1800" b="1" dirty="0" err="1" smtClean="0"/>
              <a:t>Hermann“the</a:t>
            </a:r>
            <a:r>
              <a:rPr lang="en-US" sz="1800" b="1" dirty="0" smtClean="0"/>
              <a:t> discrete purposeful action that results from the political level decision of an individual or group of individuals”</a:t>
            </a:r>
          </a:p>
          <a:p>
            <a:pPr algn="l"/>
            <a:r>
              <a:rPr lang="en-US" sz="1800" b="1" dirty="0" smtClean="0"/>
              <a:t>Hermann defines foreign policy as the behavior of states.</a:t>
            </a:r>
          </a:p>
          <a:p>
            <a:pPr algn="l"/>
            <a:r>
              <a:rPr lang="en-US" sz="1800" b="1" dirty="0" smtClean="0"/>
              <a:t>George </a:t>
            </a:r>
            <a:r>
              <a:rPr lang="en-US" sz="1800" b="1" dirty="0" err="1" smtClean="0"/>
              <a:t>Modelski</a:t>
            </a:r>
            <a:r>
              <a:rPr lang="en-US" sz="1800" b="1" dirty="0" smtClean="0"/>
              <a:t>, defines it as “the system of activities evolved by communities for changing the </a:t>
            </a:r>
            <a:r>
              <a:rPr lang="en-US" sz="1800" b="1" dirty="0" err="1" smtClean="0"/>
              <a:t>behaviour</a:t>
            </a:r>
            <a:r>
              <a:rPr lang="en-US" sz="1800" b="1" dirty="0" smtClean="0"/>
              <a:t> of other states and for adjusting their own activities to the international environment. Foreign policy must throw light on the ways states attempt to change, and succeed in changing the </a:t>
            </a:r>
            <a:r>
              <a:rPr lang="en-US" sz="1800" b="1" dirty="0" err="1" smtClean="0"/>
              <a:t>behaviour</a:t>
            </a:r>
            <a:r>
              <a:rPr lang="en-US" sz="1800" b="1" dirty="0" smtClean="0"/>
              <a:t> of other states.” </a:t>
            </a:r>
            <a:endParaRPr lang="en-US" sz="1800" b="1" dirty="0"/>
          </a:p>
        </p:txBody>
      </p:sp>
    </p:spTree>
    <p:extLst>
      <p:ext uri="{BB962C8B-B14F-4D97-AF65-F5344CB8AC3E}">
        <p14:creationId xmlns:p14="http://schemas.microsoft.com/office/powerpoint/2010/main" val="38187033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Foreign policy of Pakistan</a:t>
            </a:r>
            <a:br>
              <a:rPr lang="en-US" dirty="0" smtClean="0"/>
            </a:br>
            <a:r>
              <a:rPr lang="en-US" dirty="0" smtClean="0"/>
              <a:t>Objectives &amp;Principles of Pakistan foreign Policy</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To ensure National Security</a:t>
            </a:r>
          </a:p>
          <a:p>
            <a:r>
              <a:rPr lang="en-US" dirty="0" smtClean="0"/>
              <a:t>To Strengthen the economy</a:t>
            </a:r>
          </a:p>
          <a:p>
            <a:r>
              <a:rPr lang="en-US" dirty="0" smtClean="0"/>
              <a:t>To protect Ideology</a:t>
            </a:r>
          </a:p>
          <a:p>
            <a:r>
              <a:rPr lang="en-US" dirty="0" smtClean="0"/>
              <a:t>Unity of Islamic World</a:t>
            </a:r>
          </a:p>
          <a:p>
            <a:r>
              <a:rPr lang="en-US" dirty="0" smtClean="0"/>
              <a:t>Good Relations with Neighbors</a:t>
            </a:r>
          </a:p>
          <a:p>
            <a:r>
              <a:rPr lang="en-US" dirty="0" smtClean="0"/>
              <a:t>Preservation of Peace</a:t>
            </a:r>
          </a:p>
          <a:p>
            <a:r>
              <a:rPr lang="en-US" dirty="0" smtClean="0"/>
              <a:t>Support to Right of Self-Determination</a:t>
            </a:r>
          </a:p>
          <a:p>
            <a:r>
              <a:rPr lang="en-US" dirty="0" smtClean="0"/>
              <a:t>Cooperation with the UNO</a:t>
            </a:r>
            <a:endParaRPr lang="en-US" dirty="0"/>
          </a:p>
        </p:txBody>
      </p:sp>
    </p:spTree>
    <p:extLst>
      <p:ext uri="{BB962C8B-B14F-4D97-AF65-F5344CB8AC3E}">
        <p14:creationId xmlns:p14="http://schemas.microsoft.com/office/powerpoint/2010/main" val="13461981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The Founding Father Vision</a:t>
            </a:r>
            <a:br>
              <a:rPr lang="en-US" dirty="0" smtClean="0"/>
            </a:br>
            <a:endParaRPr lang="en-US" dirty="0"/>
          </a:p>
        </p:txBody>
      </p:sp>
      <p:sp>
        <p:nvSpPr>
          <p:cNvPr id="3" name="Content Placeholder 2"/>
          <p:cNvSpPr>
            <a:spLocks noGrp="1"/>
          </p:cNvSpPr>
          <p:nvPr>
            <p:ph idx="1"/>
          </p:nvPr>
        </p:nvSpPr>
        <p:spPr/>
        <p:txBody>
          <a:bodyPr/>
          <a:lstStyle/>
          <a:p>
            <a:r>
              <a:rPr lang="en-US" dirty="0" smtClean="0"/>
              <a:t>Laid foundation of institutions </a:t>
            </a:r>
          </a:p>
          <a:p>
            <a:r>
              <a:rPr lang="en-US" dirty="0" smtClean="0"/>
              <a:t>Proclaimed principles of state affairs.</a:t>
            </a:r>
          </a:p>
          <a:p>
            <a:r>
              <a:rPr lang="en-US" dirty="0" smtClean="0"/>
              <a:t>Jinnah concept of Pakistan &gt; Muslim, liberal, democratic and modernization of state</a:t>
            </a:r>
          </a:p>
          <a:p>
            <a:r>
              <a:rPr lang="en-US" dirty="0" smtClean="0"/>
              <a:t>Under his leadership Muslim League Leaders extended their support to Allies against the Fascist power.</a:t>
            </a:r>
          </a:p>
          <a:p>
            <a:r>
              <a:rPr lang="en-US" dirty="0" smtClean="0"/>
              <a:t>Initially Pakistan avoided to involve in any Ideological Contest </a:t>
            </a:r>
          </a:p>
          <a:p>
            <a:r>
              <a:rPr lang="en-US" dirty="0" smtClean="0"/>
              <a:t>Extended goodwill towards Muslim states.</a:t>
            </a:r>
          </a:p>
          <a:p>
            <a:pPr marL="0" indent="0">
              <a:buNone/>
            </a:pPr>
            <a:endParaRPr lang="en-US" dirty="0" smtClean="0"/>
          </a:p>
          <a:p>
            <a:endParaRPr lang="en-US" dirty="0"/>
          </a:p>
        </p:txBody>
      </p:sp>
    </p:spTree>
    <p:extLst>
      <p:ext uri="{BB962C8B-B14F-4D97-AF65-F5344CB8AC3E}">
        <p14:creationId xmlns:p14="http://schemas.microsoft.com/office/powerpoint/2010/main" val="19792378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Muslim world &gt; Solidarity of Muslim tradition and relations with Muslim countries.</a:t>
            </a:r>
          </a:p>
          <a:p>
            <a:r>
              <a:rPr lang="en-US" dirty="0" smtClean="0"/>
              <a:t>FP OF Pak &gt; serve the international law &gt; </a:t>
            </a:r>
            <a:r>
              <a:rPr lang="en-US" dirty="0" err="1" smtClean="0"/>
              <a:t>i.e</a:t>
            </a:r>
            <a:r>
              <a:rPr lang="en-US" dirty="0" smtClean="0"/>
              <a:t> independence, non aggression &amp; non interference</a:t>
            </a:r>
          </a:p>
          <a:p>
            <a:r>
              <a:rPr lang="en-US" dirty="0" smtClean="0"/>
              <a:t>Support for legitimate cause of people.</a:t>
            </a:r>
          </a:p>
          <a:p>
            <a:r>
              <a:rPr lang="en-US" dirty="0" smtClean="0"/>
              <a:t>Strong bond with Muslim state and cooperation.</a:t>
            </a:r>
          </a:p>
          <a:p>
            <a:r>
              <a:rPr lang="en-US" dirty="0" smtClean="0"/>
              <a:t>Jinnah endorsed Human Rights</a:t>
            </a:r>
            <a:endParaRPr lang="en-US" dirty="0"/>
          </a:p>
        </p:txBody>
      </p:sp>
    </p:spTree>
    <p:extLst>
      <p:ext uri="{BB962C8B-B14F-4D97-AF65-F5344CB8AC3E}">
        <p14:creationId xmlns:p14="http://schemas.microsoft.com/office/powerpoint/2010/main" val="35888353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Muslim world</a:t>
            </a:r>
            <a:endParaRPr lang="en-US" dirty="0"/>
          </a:p>
        </p:txBody>
      </p:sp>
      <p:sp>
        <p:nvSpPr>
          <p:cNvPr id="3" name="Content Placeholder 2"/>
          <p:cNvSpPr>
            <a:spLocks noGrp="1"/>
          </p:cNvSpPr>
          <p:nvPr>
            <p:ph idx="1"/>
          </p:nvPr>
        </p:nvSpPr>
        <p:spPr/>
        <p:txBody>
          <a:bodyPr/>
          <a:lstStyle/>
          <a:p>
            <a:r>
              <a:rPr lang="en-US" dirty="0" smtClean="0"/>
              <a:t>Foreign Policy of Pakistan is motivated by:</a:t>
            </a:r>
          </a:p>
          <a:p>
            <a:pPr algn="ctr">
              <a:buFont typeface="Wingdings" panose="05000000000000000000" pitchFamily="2" charset="2"/>
              <a:buChar char="ü"/>
            </a:pPr>
            <a:r>
              <a:rPr lang="en-US" sz="2000" dirty="0" smtClean="0"/>
              <a:t>Close cooperation</a:t>
            </a:r>
          </a:p>
          <a:p>
            <a:pPr algn="ctr">
              <a:buFont typeface="Wingdings" panose="05000000000000000000" pitchFamily="2" charset="2"/>
              <a:buChar char="ü"/>
            </a:pPr>
            <a:r>
              <a:rPr lang="en-US" sz="2000" dirty="0" smtClean="0"/>
              <a:t>Process of economic development</a:t>
            </a:r>
          </a:p>
          <a:p>
            <a:pPr algn="ctr">
              <a:buFont typeface="Wingdings" panose="05000000000000000000" pitchFamily="2" charset="2"/>
              <a:buChar char="ü"/>
            </a:pPr>
            <a:r>
              <a:rPr lang="en-US" sz="2000" dirty="0" smtClean="0"/>
              <a:t>Strengthen mutual security</a:t>
            </a:r>
          </a:p>
          <a:p>
            <a:r>
              <a:rPr lang="en-US" dirty="0" smtClean="0"/>
              <a:t>Pak developed relations with Iran and Turkey</a:t>
            </a:r>
          </a:p>
          <a:p>
            <a:r>
              <a:rPr lang="en-US" dirty="0" smtClean="0"/>
              <a:t>Support the causes of Muslim nations</a:t>
            </a:r>
          </a:p>
          <a:p>
            <a:pPr marL="0" indent="0">
              <a:buNone/>
            </a:pPr>
            <a:endParaRPr lang="en-US" dirty="0"/>
          </a:p>
        </p:txBody>
      </p:sp>
    </p:spTree>
    <p:extLst>
      <p:ext uri="{BB962C8B-B14F-4D97-AF65-F5344CB8AC3E}">
        <p14:creationId xmlns:p14="http://schemas.microsoft.com/office/powerpoint/2010/main" val="21855072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Pakistan joined the United Nations on September 30 1947, as a new member and stayed in the Commonwealth. Its leadership established contacts with other states, </a:t>
            </a:r>
            <a:r>
              <a:rPr lang="en-US" dirty="0" err="1"/>
              <a:t>emphasising</a:t>
            </a:r>
            <a:r>
              <a:rPr lang="en-US" dirty="0"/>
              <a:t> friendship with all, promotion of peace and harmony, support for liberation of the </a:t>
            </a:r>
            <a:r>
              <a:rPr lang="en-US" dirty="0" err="1"/>
              <a:t>colonised</a:t>
            </a:r>
            <a:r>
              <a:rPr lang="en-US" dirty="0"/>
              <a:t> people, and a strict observance of the principles of international conduct as enshrined in the UN </a:t>
            </a:r>
            <a:r>
              <a:rPr lang="en-US" dirty="0" smtClean="0"/>
              <a:t>Charter.</a:t>
            </a:r>
            <a:endParaRPr lang="en-US" dirty="0"/>
          </a:p>
        </p:txBody>
      </p:sp>
    </p:spTree>
    <p:extLst>
      <p:ext uri="{BB962C8B-B14F-4D97-AF65-F5344CB8AC3E}">
        <p14:creationId xmlns:p14="http://schemas.microsoft.com/office/powerpoint/2010/main" val="1701826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PHASES OF PAKISTAN’S FOREIGN POLICY</a:t>
            </a:r>
            <a:endParaRPr lang="en-US" dirty="0"/>
          </a:p>
        </p:txBody>
      </p:sp>
      <p:sp>
        <p:nvSpPr>
          <p:cNvPr id="3" name="Content Placeholder 2"/>
          <p:cNvSpPr>
            <a:spLocks noGrp="1"/>
          </p:cNvSpPr>
          <p:nvPr>
            <p:ph idx="1"/>
          </p:nvPr>
        </p:nvSpPr>
        <p:spPr/>
        <p:txBody>
          <a:bodyPr/>
          <a:lstStyle/>
          <a:p>
            <a:pPr marL="0" indent="0">
              <a:buNone/>
            </a:pPr>
            <a:r>
              <a:rPr lang="en-US" u="sng" dirty="0"/>
              <a:t>Phase-I</a:t>
            </a:r>
            <a:r>
              <a:rPr lang="en-US" dirty="0"/>
              <a:t>	1947-53	(The Era of Neutrality)</a:t>
            </a:r>
          </a:p>
          <a:p>
            <a:pPr marL="0" indent="0">
              <a:buNone/>
            </a:pPr>
            <a:r>
              <a:rPr lang="en-US" u="sng" dirty="0"/>
              <a:t>Phase-II</a:t>
            </a:r>
            <a:r>
              <a:rPr lang="en-US" dirty="0"/>
              <a:t>	1954-62	(The Era of Alignment)</a:t>
            </a:r>
          </a:p>
          <a:p>
            <a:pPr marL="0" indent="0">
              <a:buNone/>
            </a:pPr>
            <a:r>
              <a:rPr lang="en-US" dirty="0"/>
              <a:t>		(1)	Pak-US Mutual Defense</a:t>
            </a:r>
          </a:p>
          <a:p>
            <a:pPr marL="0" indent="0">
              <a:buNone/>
            </a:pPr>
            <a:r>
              <a:rPr lang="en-US" dirty="0"/>
              <a:t>			Assistance Agreement.</a:t>
            </a:r>
          </a:p>
          <a:p>
            <a:pPr marL="0" indent="0">
              <a:buNone/>
            </a:pPr>
            <a:r>
              <a:rPr lang="en-US" dirty="0"/>
              <a:t>		(2)	South-East Asian Treaty 				Organization (	SEATO)</a:t>
            </a:r>
          </a:p>
          <a:p>
            <a:pPr marL="0" indent="0" algn="ctr">
              <a:buNone/>
            </a:pPr>
            <a:r>
              <a:rPr lang="en-US" dirty="0"/>
              <a:t>		(3)	Central Treaty Organization 			</a:t>
            </a:r>
            <a:r>
              <a:rPr lang="en-US" dirty="0" smtClean="0"/>
              <a:t>		(</a:t>
            </a:r>
            <a:r>
              <a:rPr lang="en-US" dirty="0"/>
              <a:t>CENTO)</a:t>
            </a:r>
          </a:p>
          <a:p>
            <a:endParaRPr lang="en-US" dirty="0"/>
          </a:p>
        </p:txBody>
      </p:sp>
    </p:spTree>
    <p:extLst>
      <p:ext uri="{BB962C8B-B14F-4D97-AF65-F5344CB8AC3E}">
        <p14:creationId xmlns:p14="http://schemas.microsoft.com/office/powerpoint/2010/main" val="2774519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u="sng" dirty="0"/>
              <a:t>Phase-III</a:t>
            </a:r>
            <a:r>
              <a:rPr lang="en-US" dirty="0"/>
              <a:t>	1963-77	(The Era of Bilateralism)</a:t>
            </a:r>
          </a:p>
          <a:p>
            <a:pPr>
              <a:buNone/>
            </a:pPr>
            <a:r>
              <a:rPr lang="en-US" u="sng" dirty="0"/>
              <a:t>Phase-IV</a:t>
            </a:r>
            <a:r>
              <a:rPr lang="en-US" dirty="0"/>
              <a:t>	1978-89	(The Era of Non 					Alignment)</a:t>
            </a:r>
          </a:p>
          <a:p>
            <a:pPr>
              <a:buNone/>
            </a:pPr>
            <a:r>
              <a:rPr lang="en-US" u="sng" dirty="0"/>
              <a:t>Phase-V</a:t>
            </a:r>
            <a:r>
              <a:rPr lang="en-US" dirty="0"/>
              <a:t>	1999 Onwards	(Quest for Multilateral 					Foreign Policy)</a:t>
            </a:r>
          </a:p>
          <a:p>
            <a:endParaRPr lang="en-US" dirty="0"/>
          </a:p>
        </p:txBody>
      </p:sp>
    </p:spTree>
    <p:extLst>
      <p:ext uri="{BB962C8B-B14F-4D97-AF65-F5344CB8AC3E}">
        <p14:creationId xmlns:p14="http://schemas.microsoft.com/office/powerpoint/2010/main" val="495425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1947-53: Exploration and Friendship with </a:t>
            </a:r>
            <a:r>
              <a:rPr lang="en-US" dirty="0" smtClean="0"/>
              <a:t>All.</a:t>
            </a:r>
          </a:p>
          <a:p>
            <a:r>
              <a:rPr lang="en-US" dirty="0"/>
              <a:t>Relations with India </a:t>
            </a:r>
            <a:r>
              <a:rPr lang="en-US" dirty="0" smtClean="0"/>
              <a:t>&gt; distrust &amp;hostility&gt; issues&gt; water, assets division</a:t>
            </a:r>
          </a:p>
          <a:p>
            <a:r>
              <a:rPr lang="en-US" dirty="0"/>
              <a:t>These disputes were coupled with controversies about the accession of the princely states of </a:t>
            </a:r>
            <a:r>
              <a:rPr lang="en-US" dirty="0" err="1"/>
              <a:t>Junagadh</a:t>
            </a:r>
            <a:r>
              <a:rPr lang="en-US" dirty="0"/>
              <a:t>, Hyderabad, and Jammu and Kashmir, and the outbreak of the first Kashmir war (1947-48).</a:t>
            </a:r>
          </a:p>
        </p:txBody>
      </p:sp>
    </p:spTree>
    <p:extLst>
      <p:ext uri="{BB962C8B-B14F-4D97-AF65-F5344CB8AC3E}">
        <p14:creationId xmlns:p14="http://schemas.microsoft.com/office/powerpoint/2010/main" val="3278530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Relations with Afghanistan&gt;Afghanistan's irredentist claims on Pakistani </a:t>
            </a:r>
            <a:r>
              <a:rPr lang="en-US" dirty="0" smtClean="0"/>
              <a:t>territory &gt;Refusing </a:t>
            </a:r>
            <a:r>
              <a:rPr lang="en-US" dirty="0"/>
              <a:t>to </a:t>
            </a:r>
            <a:r>
              <a:rPr lang="en-US" dirty="0" err="1"/>
              <a:t>recognise</a:t>
            </a:r>
            <a:r>
              <a:rPr lang="en-US" dirty="0"/>
              <a:t> Pakistan's sovereignty over </a:t>
            </a:r>
            <a:r>
              <a:rPr lang="en-US" dirty="0" smtClean="0"/>
              <a:t>North </a:t>
            </a:r>
            <a:r>
              <a:rPr lang="en-US" dirty="0"/>
              <a:t>West Frontier Province (NWFP) and Baluchistan</a:t>
            </a:r>
            <a:r>
              <a:rPr lang="en-US" dirty="0" smtClean="0"/>
              <a:t>,</a:t>
            </a:r>
          </a:p>
          <a:p>
            <a:r>
              <a:rPr lang="en-US" dirty="0"/>
              <a:t>Afghanistan government made divergent claims on these provinces, which ranged from a demand for the right of self determination for </a:t>
            </a:r>
            <a:r>
              <a:rPr lang="en-US" dirty="0" err="1"/>
              <a:t>Pushtuns</a:t>
            </a:r>
            <a:r>
              <a:rPr lang="en-US" dirty="0"/>
              <a:t>/</a:t>
            </a:r>
            <a:r>
              <a:rPr lang="en-US" dirty="0" err="1"/>
              <a:t>Pathans</a:t>
            </a:r>
            <a:r>
              <a:rPr lang="en-US" dirty="0"/>
              <a:t> living in Pakistan and establishment of an independent state comprising NWFP and Baluchistan, to the incorporation of parts of these provinces into </a:t>
            </a:r>
            <a:r>
              <a:rPr lang="en-US" dirty="0" smtClean="0"/>
              <a:t>Afghanistan.</a:t>
            </a:r>
          </a:p>
          <a:p>
            <a:r>
              <a:rPr lang="en-US" dirty="0" smtClean="0"/>
              <a:t>Soviet union and India support claim.</a:t>
            </a:r>
            <a:endParaRPr lang="en-US" dirty="0"/>
          </a:p>
        </p:txBody>
      </p:sp>
    </p:spTree>
    <p:extLst>
      <p:ext uri="{BB962C8B-B14F-4D97-AF65-F5344CB8AC3E}">
        <p14:creationId xmlns:p14="http://schemas.microsoft.com/office/powerpoint/2010/main" val="438319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Security Imperatives &gt;pay special attention to the </a:t>
            </a:r>
            <a:r>
              <a:rPr lang="en-US" dirty="0" err="1"/>
              <a:t>reorganisation</a:t>
            </a:r>
            <a:r>
              <a:rPr lang="en-US" dirty="0"/>
              <a:t> of the armed forces that Pakistan inherited after the division of the British Indian </a:t>
            </a:r>
            <a:r>
              <a:rPr lang="en-US" dirty="0" smtClean="0"/>
              <a:t>military</a:t>
            </a:r>
          </a:p>
          <a:p>
            <a:r>
              <a:rPr lang="en-US" dirty="0"/>
              <a:t>Pakistan purchased some weapons and military equipment from a number of Western states for modernization of the three services of the armed </a:t>
            </a:r>
            <a:r>
              <a:rPr lang="en-US" dirty="0" smtClean="0"/>
              <a:t>forces</a:t>
            </a:r>
          </a:p>
          <a:p>
            <a:r>
              <a:rPr lang="en-US" dirty="0"/>
              <a:t>However, the pace of modernization was rather slow until Pakistan joined the West-sponsored security pacts in 1954-55.</a:t>
            </a:r>
          </a:p>
        </p:txBody>
      </p:sp>
    </p:spTree>
    <p:extLst>
      <p:ext uri="{BB962C8B-B14F-4D97-AF65-F5344CB8AC3E}">
        <p14:creationId xmlns:p14="http://schemas.microsoft.com/office/powerpoint/2010/main" val="444252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Relations with U.S.A. and USSR&gt;Pakistan started with an independent foreign policy and cultivated relations with the United States, the Soviet Union, and </a:t>
            </a:r>
            <a:r>
              <a:rPr lang="en-US" dirty="0" smtClean="0"/>
              <a:t>China</a:t>
            </a:r>
          </a:p>
          <a:p>
            <a:r>
              <a:rPr lang="en-US" dirty="0"/>
              <a:t>The United States felicitated the establishment of Pakistan and the ambassadorial level relations were resumed in February 1948</a:t>
            </a:r>
            <a:r>
              <a:rPr lang="en-US" dirty="0" smtClean="0"/>
              <a:t>.</a:t>
            </a:r>
          </a:p>
          <a:p>
            <a:r>
              <a:rPr lang="en-US" dirty="0"/>
              <a:t>Pakistan and the Soviet Union agreed to establish diplomatic relations in April 1948, it was not until December 1949 that Pakistan's first ambassador resumed his assignment in Moscow. The Soviet ambassador took up his position in Karachi in March 1950.</a:t>
            </a:r>
          </a:p>
        </p:txBody>
      </p:sp>
    </p:spTree>
    <p:extLst>
      <p:ext uri="{BB962C8B-B14F-4D97-AF65-F5344CB8AC3E}">
        <p14:creationId xmlns:p14="http://schemas.microsoft.com/office/powerpoint/2010/main" val="554022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Relation got </a:t>
            </a:r>
            <a:r>
              <a:rPr lang="en-US" dirty="0" err="1" smtClean="0"/>
              <a:t>detoriate</a:t>
            </a:r>
            <a:r>
              <a:rPr lang="en-US" dirty="0"/>
              <a:t> &gt;in June 1949, when the Soviet Union invited Pakistan's first Prime Minister, </a:t>
            </a:r>
            <a:r>
              <a:rPr lang="en-US" dirty="0" err="1"/>
              <a:t>Liaquat</a:t>
            </a:r>
            <a:r>
              <a:rPr lang="en-US" dirty="0"/>
              <a:t> Ali Khan, for an official visit. The invitation was accepted but the visit did not </a:t>
            </a:r>
            <a:r>
              <a:rPr lang="en-US" dirty="0" err="1"/>
              <a:t>materialise</a:t>
            </a:r>
            <a:r>
              <a:rPr lang="en-US" dirty="0" smtClean="0"/>
              <a:t>.&gt;, </a:t>
            </a:r>
            <a:r>
              <a:rPr lang="en-US" dirty="0" err="1"/>
              <a:t>Liaquat</a:t>
            </a:r>
            <a:r>
              <a:rPr lang="en-US" dirty="0"/>
              <a:t> Ali Khan visited the United States in May 1950, and his speeches and statements during this visit manifested a strong pro-West disposition of the Pakistan </a:t>
            </a:r>
            <a:r>
              <a:rPr lang="en-US" dirty="0" smtClean="0"/>
              <a:t>government.</a:t>
            </a:r>
          </a:p>
          <a:p>
            <a:r>
              <a:rPr lang="en-US" dirty="0"/>
              <a:t>China &gt;Pakistan was the first Muslim country to </a:t>
            </a:r>
            <a:r>
              <a:rPr lang="en-US" dirty="0" err="1"/>
              <a:t>recognise</a:t>
            </a:r>
            <a:r>
              <a:rPr lang="en-US" dirty="0"/>
              <a:t> the People's Republic of China in the first week of January 1950. The ambassadors of China and Pakistan presented their credentials in September and November 1951 respectively.</a:t>
            </a:r>
          </a:p>
        </p:txBody>
      </p:sp>
    </p:spTree>
    <p:extLst>
      <p:ext uri="{BB962C8B-B14F-4D97-AF65-F5344CB8AC3E}">
        <p14:creationId xmlns:p14="http://schemas.microsoft.com/office/powerpoint/2010/main" val="43901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Relations with Muslim Countries&gt;promoting harmony and cooperation amongst the Muslim states&gt;It sponsored several unofficial conferences for cultivating a broad-based consensus on setting up an </a:t>
            </a:r>
            <a:r>
              <a:rPr lang="en-US" dirty="0" err="1"/>
              <a:t>organisation</a:t>
            </a:r>
            <a:r>
              <a:rPr lang="en-US" dirty="0"/>
              <a:t> representing all Muslim states</a:t>
            </a:r>
            <a:r>
              <a:rPr lang="en-US" dirty="0" smtClean="0"/>
              <a:t>.</a:t>
            </a:r>
          </a:p>
          <a:p>
            <a:r>
              <a:rPr lang="en-US" dirty="0"/>
              <a:t>Indonesia and Egypt </a:t>
            </a:r>
            <a:r>
              <a:rPr lang="en-US" dirty="0" smtClean="0"/>
              <a:t>&gt;strong </a:t>
            </a:r>
            <a:r>
              <a:rPr lang="en-US" dirty="0"/>
              <a:t>reservations about Pakistan's efforts to promote unity in the Muslim </a:t>
            </a:r>
            <a:r>
              <a:rPr lang="en-US" dirty="0" smtClean="0"/>
              <a:t>world.</a:t>
            </a:r>
          </a:p>
          <a:p>
            <a:r>
              <a:rPr lang="en-US" dirty="0" smtClean="0"/>
              <a:t>Afghanistan &gt;not </a:t>
            </a:r>
            <a:r>
              <a:rPr lang="en-US" dirty="0"/>
              <a:t>prepared to endorse Pakistan's efforts. Pakistani leadership was disappointed by the response of the Muslim leaders. </a:t>
            </a:r>
            <a:endParaRPr lang="en-US" dirty="0" smtClean="0"/>
          </a:p>
          <a:p>
            <a:r>
              <a:rPr lang="en-US" dirty="0" smtClean="0"/>
              <a:t>Pakistan </a:t>
            </a:r>
            <a:r>
              <a:rPr lang="en-US" dirty="0"/>
              <a:t>was, however, able to cultivate very cordial relations with Iran, Turkey and Saudi Arabia. </a:t>
            </a:r>
          </a:p>
        </p:txBody>
      </p:sp>
    </p:spTree>
    <p:extLst>
      <p:ext uri="{BB962C8B-B14F-4D97-AF65-F5344CB8AC3E}">
        <p14:creationId xmlns:p14="http://schemas.microsoft.com/office/powerpoint/2010/main" val="1220329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1953-62: Alignment with the </a:t>
            </a:r>
            <a:r>
              <a:rPr lang="en-US" dirty="0" smtClean="0"/>
              <a:t>West</a:t>
            </a:r>
            <a:endParaRPr lang="en-US" dirty="0"/>
          </a:p>
        </p:txBody>
      </p:sp>
      <p:sp>
        <p:nvSpPr>
          <p:cNvPr id="3" name="Content Placeholder 2"/>
          <p:cNvSpPr>
            <a:spLocks noGrp="1"/>
          </p:cNvSpPr>
          <p:nvPr>
            <p:ph idx="1"/>
          </p:nvPr>
        </p:nvSpPr>
        <p:spPr/>
        <p:txBody>
          <a:bodyPr>
            <a:normAutofit lnSpcReduction="10000"/>
          </a:bodyPr>
          <a:lstStyle/>
          <a:p>
            <a:r>
              <a:rPr lang="en-US" dirty="0"/>
              <a:t>The second phase of Pakistan's foreign policy was </a:t>
            </a:r>
            <a:r>
              <a:rPr lang="en-US" dirty="0" err="1"/>
              <a:t>characterised</a:t>
            </a:r>
            <a:r>
              <a:rPr lang="en-US" dirty="0"/>
              <a:t> by a transition from an independent foreign policy to a multifaceted alignment with the </a:t>
            </a:r>
            <a:r>
              <a:rPr lang="en-US" dirty="0" smtClean="0"/>
              <a:t>West because of acute sense of insecurity&gt;regional context&gt;India &amp; Afghanistan.</a:t>
            </a:r>
          </a:p>
          <a:p>
            <a:r>
              <a:rPr lang="en-US" dirty="0"/>
              <a:t>Second&gt;economic crisis 1950s&gt;1952, the prices of jute and cotton began to drop in the International market which adversely affected Pakistan's foreign trade. The foreign exchange earnings and gold and sterling reserves dwindled. Pakistan was also faced with a serious shortage of wheat in 1952-53. The United States came for Pakistan's rescue by offering a gift of wheat in 1953 which helped to overcome food shortages and built a lot of goodwill in Pakistan for the donor. </a:t>
            </a:r>
          </a:p>
        </p:txBody>
      </p:sp>
    </p:spTree>
    <p:extLst>
      <p:ext uri="{BB962C8B-B14F-4D97-AF65-F5344CB8AC3E}">
        <p14:creationId xmlns:p14="http://schemas.microsoft.com/office/powerpoint/2010/main" val="4204866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Third&gt;Pakistan suffered from a sense of isolation in the World. The efforts to promote unity in the Muslim World were not making headway. It also became clear that the UN and the Commonwealth would not facilitate the solution of the Pakistan-India problems, especially the Kashmir dispute.</a:t>
            </a:r>
          </a:p>
        </p:txBody>
      </p:sp>
    </p:spTree>
    <p:extLst>
      <p:ext uri="{BB962C8B-B14F-4D97-AF65-F5344CB8AC3E}">
        <p14:creationId xmlns:p14="http://schemas.microsoft.com/office/powerpoint/2010/main" val="3373194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Mutual </a:t>
            </a:r>
            <a:r>
              <a:rPr lang="en-US" dirty="0" err="1"/>
              <a:t>Defence</a:t>
            </a:r>
            <a:r>
              <a:rPr lang="en-US" dirty="0"/>
              <a:t> Assistance Agreement</a:t>
            </a:r>
          </a:p>
        </p:txBody>
      </p:sp>
      <p:sp>
        <p:nvSpPr>
          <p:cNvPr id="3" name="Content Placeholder 2"/>
          <p:cNvSpPr>
            <a:spLocks noGrp="1"/>
          </p:cNvSpPr>
          <p:nvPr>
            <p:ph idx="1"/>
          </p:nvPr>
        </p:nvSpPr>
        <p:spPr/>
        <p:txBody>
          <a:bodyPr>
            <a:normAutofit lnSpcReduction="10000"/>
          </a:bodyPr>
          <a:lstStyle/>
          <a:p>
            <a:r>
              <a:rPr lang="en-US" dirty="0"/>
              <a:t>In February 1954, Pakistan agreed on the U.S. initiative to develop close cooperation with Turkey in the political, economic and cultural spheres. A formal Turkey-Pakistan Agreement was signed in April 1954, followed by a Mutual </a:t>
            </a:r>
            <a:r>
              <a:rPr lang="en-US" dirty="0" err="1"/>
              <a:t>Defence</a:t>
            </a:r>
            <a:r>
              <a:rPr lang="en-US" dirty="0"/>
              <a:t> Assistance Agreement between the United States and Pakistan in May. The Unites States agreed to provide military equipment, training facilities and other related services to enable Pakistan to maintain </a:t>
            </a:r>
            <a:r>
              <a:rPr lang="en-US" dirty="0" smtClean="0"/>
              <a:t>its </a:t>
            </a:r>
            <a:r>
              <a:rPr lang="en-US" dirty="0"/>
              <a:t>international </a:t>
            </a:r>
            <a:r>
              <a:rPr lang="en-US" dirty="0" smtClean="0"/>
              <a:t>security.</a:t>
            </a:r>
          </a:p>
          <a:p>
            <a:r>
              <a:rPr lang="en-US" dirty="0"/>
              <a:t>Pakistan was obliged not to use the assistance provided under this agreement for undertaking “any act of aggression against any other nation.” It could not use this assistance for purposes other than those specified in the agreement. </a:t>
            </a:r>
          </a:p>
        </p:txBody>
      </p:sp>
    </p:spTree>
    <p:extLst>
      <p:ext uri="{BB962C8B-B14F-4D97-AF65-F5344CB8AC3E}">
        <p14:creationId xmlns:p14="http://schemas.microsoft.com/office/powerpoint/2010/main" val="1113712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SEATO</a:t>
            </a:r>
          </a:p>
        </p:txBody>
      </p:sp>
      <p:sp>
        <p:nvSpPr>
          <p:cNvPr id="3" name="Content Placeholder 2"/>
          <p:cNvSpPr>
            <a:spLocks noGrp="1"/>
          </p:cNvSpPr>
          <p:nvPr>
            <p:ph idx="1"/>
          </p:nvPr>
        </p:nvSpPr>
        <p:spPr/>
        <p:txBody>
          <a:bodyPr>
            <a:normAutofit lnSpcReduction="10000"/>
          </a:bodyPr>
          <a:lstStyle/>
          <a:p>
            <a:r>
              <a:rPr lang="en-US" dirty="0"/>
              <a:t>In September 1954, Pakistan joined the South East Asia Treaty </a:t>
            </a:r>
            <a:r>
              <a:rPr lang="en-US" dirty="0" err="1"/>
              <a:t>Organisation</a:t>
            </a:r>
            <a:r>
              <a:rPr lang="en-US" dirty="0"/>
              <a:t> (SEATO) or the Manila Pact. Its members (Australia, France, Great Britain, New Zealand, Pakistan, Philippines, Thailand and the U.S.) undertook to develop capacity “to resist attack and counter subversive activities” and promote cooperation for “economic progress and social well being.” They pledged that an armed aggression or threat to territorial integrity of a member state would be considered a threat to all, and that they would consult each other in order to meet such a challenge. The United States made it clear that the SEATO pledge applied only to communist aggression or subversion. Pakistan's plea to include all kinds of aggression was not </a:t>
            </a:r>
            <a:r>
              <a:rPr lang="en-US" dirty="0" smtClean="0"/>
              <a:t>accepted.</a:t>
            </a:r>
            <a:endParaRPr lang="en-US" dirty="0"/>
          </a:p>
        </p:txBody>
      </p:sp>
    </p:spTree>
    <p:extLst>
      <p:ext uri="{BB962C8B-B14F-4D97-AF65-F5344CB8AC3E}">
        <p14:creationId xmlns:p14="http://schemas.microsoft.com/office/powerpoint/2010/main" val="1630256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Baghdad Pact/CENTO</a:t>
            </a:r>
          </a:p>
        </p:txBody>
      </p:sp>
      <p:sp>
        <p:nvSpPr>
          <p:cNvPr id="3" name="Content Placeholder 2"/>
          <p:cNvSpPr>
            <a:spLocks noGrp="1"/>
          </p:cNvSpPr>
          <p:nvPr>
            <p:ph idx="1"/>
          </p:nvPr>
        </p:nvSpPr>
        <p:spPr/>
        <p:txBody>
          <a:bodyPr>
            <a:normAutofit fontScale="92500" lnSpcReduction="20000"/>
          </a:bodyPr>
          <a:lstStyle/>
          <a:p>
            <a:r>
              <a:rPr lang="en-US" dirty="0"/>
              <a:t>One year later (September 1955) Pakistan joined the Baghdad Pact (renamed CENTO in 1959 after Iraq's withdrawal). Pakistan attached greater importance to this pact because it involved three Muslim states, i.e. Iraq (up to 1959), Turkey and Iran. Great Britain was also its member; the United States maintained close links with it and participated in its military committee. The members of the Baghdad Pact agreed to cooperate with each other in the field of </a:t>
            </a:r>
            <a:r>
              <a:rPr lang="en-US" dirty="0" err="1"/>
              <a:t>defence</a:t>
            </a:r>
            <a:r>
              <a:rPr lang="en-US" dirty="0"/>
              <a:t> and security. The United States made it clear One year later (September 1955) Pakistan joined the Baghdad Pact (renamed CENTO in 1959 after Iraq's withdrawal). Pakistan attached greater importance to this pact because it involved three Muslim states, i.e. Iraq (up to 1959), Turkey and Iran. Great Britain was also its member; the United States maintained close links with it and participated in its military committee. The members of the Baghdad Pact agreed to cooperate with each other in the field of </a:t>
            </a:r>
            <a:r>
              <a:rPr lang="en-US" dirty="0" err="1"/>
              <a:t>defence</a:t>
            </a:r>
            <a:r>
              <a:rPr lang="en-US" dirty="0"/>
              <a:t> and security. The United States made it clear </a:t>
            </a:r>
          </a:p>
        </p:txBody>
      </p:sp>
    </p:spTree>
    <p:extLst>
      <p:ext uri="{BB962C8B-B14F-4D97-AF65-F5344CB8AC3E}">
        <p14:creationId xmlns:p14="http://schemas.microsoft.com/office/powerpoint/2010/main" val="3601498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Defence</a:t>
            </a:r>
            <a:r>
              <a:rPr lang="en-US" dirty="0"/>
              <a:t> and Economic Assistance from the U.S.A</a:t>
            </a:r>
          </a:p>
        </p:txBody>
      </p:sp>
      <p:sp>
        <p:nvSpPr>
          <p:cNvPr id="3" name="Content Placeholder 2"/>
          <p:cNvSpPr>
            <a:spLocks noGrp="1"/>
          </p:cNvSpPr>
          <p:nvPr>
            <p:ph idx="1"/>
          </p:nvPr>
        </p:nvSpPr>
        <p:spPr/>
        <p:txBody>
          <a:bodyPr>
            <a:normAutofit lnSpcReduction="10000"/>
          </a:bodyPr>
          <a:lstStyle/>
          <a:p>
            <a:r>
              <a:rPr lang="en-US" dirty="0"/>
              <a:t>A Bilateral Agreement of Cooperation was signed between Pakistan and the United States in March 1959, as an executive understanding. Its preamble declared that the United States regarded “as vital to its national interest and to world peace, the preservation of independence and integrity of Pakistan.” Article 2 of the Agreement provided that the United States would supply military and economic assistance to Pakistan as may be mutually agreed upon “in order to assist the government of Pakistan in the preservation of its national independence and integrity and in the effective promotion of its economic development.” Pakistan reciprocated by providing a communication/air base to the United States at </a:t>
            </a:r>
            <a:r>
              <a:rPr lang="en-US" dirty="0" err="1"/>
              <a:t>Badaber</a:t>
            </a:r>
            <a:r>
              <a:rPr lang="en-US" dirty="0"/>
              <a:t>, near Peshawar, for ten years: 1959-69. </a:t>
            </a:r>
          </a:p>
        </p:txBody>
      </p:sp>
    </p:spTree>
    <p:extLst>
      <p:ext uri="{BB962C8B-B14F-4D97-AF65-F5344CB8AC3E}">
        <p14:creationId xmlns:p14="http://schemas.microsoft.com/office/powerpoint/2010/main" val="309324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a:t>
            </a:r>
            <a:endParaRPr lang="en-US" dirty="0"/>
          </a:p>
        </p:txBody>
      </p:sp>
      <p:sp>
        <p:nvSpPr>
          <p:cNvPr id="3" name="Content Placeholder 2"/>
          <p:cNvSpPr>
            <a:spLocks noGrp="1"/>
          </p:cNvSpPr>
          <p:nvPr>
            <p:ph idx="1"/>
          </p:nvPr>
        </p:nvSpPr>
        <p:spPr/>
        <p:txBody>
          <a:bodyPr>
            <a:normAutofit fontScale="85000" lnSpcReduction="20000"/>
          </a:bodyPr>
          <a:lstStyle/>
          <a:p>
            <a:r>
              <a:rPr lang="en-US" dirty="0"/>
              <a:t>American economic assistance grants, loans, goods and services gave a boost to Pakistan's faltering economy. The most significant contribution was in the field of </a:t>
            </a:r>
            <a:r>
              <a:rPr lang="en-US" dirty="0" err="1"/>
              <a:t>defence</a:t>
            </a:r>
            <a:r>
              <a:rPr lang="en-US" dirty="0"/>
              <a:t> and security where the two states developed very close ties. Pakistan received grant assistance valued at US $ 650 million, and credit facilities worth US $ 55 million. The military assistance included arms and ammunition, artillery pieces, APCs, and transport for the Army; aircraft F-104, B-57, F-86, and C-130 for the Air Force; naval </a:t>
            </a:r>
            <a:r>
              <a:rPr lang="en-US" dirty="0" err="1"/>
              <a:t>defence</a:t>
            </a:r>
            <a:r>
              <a:rPr lang="en-US" dirty="0"/>
              <a:t> equipment, including warships; radar and communication equipment. The U.S. Military Assistance Advisory Group (USMAAG) was set up in Pakistan to advise and guide the </a:t>
            </a:r>
            <a:r>
              <a:rPr lang="en-US" dirty="0" err="1"/>
              <a:t>modernisation</a:t>
            </a:r>
            <a:r>
              <a:rPr lang="en-US" dirty="0"/>
              <a:t> of the armed forces and the security arrangements. A number of divisions were reequipped, and a few new ones were raised, coupled with the restructuring of the </a:t>
            </a:r>
            <a:r>
              <a:rPr lang="en-US" dirty="0" err="1"/>
              <a:t>defence</a:t>
            </a:r>
            <a:r>
              <a:rPr lang="en-US" dirty="0"/>
              <a:t> system. Training facilities in Pakistan were improved and a good number of Pakistan military officers were sent to the United States on different training courses; Pakistan's Air Force and the Navy took part in joint CENTO exercises which enabled them to gain invaluable experience</a:t>
            </a:r>
          </a:p>
        </p:txBody>
      </p:sp>
    </p:spTree>
    <p:extLst>
      <p:ext uri="{BB962C8B-B14F-4D97-AF65-F5344CB8AC3E}">
        <p14:creationId xmlns:p14="http://schemas.microsoft.com/office/powerpoint/2010/main" val="1479602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a:t>
            </a:r>
            <a:endParaRPr lang="en-US" dirty="0"/>
          </a:p>
        </p:txBody>
      </p:sp>
      <p:sp>
        <p:nvSpPr>
          <p:cNvPr id="3" name="Content Placeholder 2"/>
          <p:cNvSpPr>
            <a:spLocks noGrp="1"/>
          </p:cNvSpPr>
          <p:nvPr>
            <p:ph idx="1"/>
          </p:nvPr>
        </p:nvSpPr>
        <p:spPr/>
        <p:txBody>
          <a:bodyPr/>
          <a:lstStyle/>
          <a:p>
            <a:r>
              <a:rPr lang="en-US" dirty="0"/>
              <a:t>Pakistan's independent foreign policy was compromised and the prospects for improvement of its relations with the Soviet Union suffered </a:t>
            </a:r>
            <a:r>
              <a:rPr lang="en-US" dirty="0" smtClean="0"/>
              <a:t>heavily.</a:t>
            </a:r>
          </a:p>
          <a:p>
            <a:r>
              <a:rPr lang="en-US" dirty="0" smtClean="0"/>
              <a:t>First&gt; </a:t>
            </a:r>
            <a:r>
              <a:rPr lang="en-US" dirty="0"/>
              <a:t>the Soviet leaders made a blistering criticism of Pakistan's alignment with the U.S. and threatened Pakistan with dire consequences if Pakistan allowed its territory to be used against the Soviet Union</a:t>
            </a:r>
            <a:r>
              <a:rPr lang="en-US" dirty="0" smtClean="0"/>
              <a:t>.</a:t>
            </a:r>
          </a:p>
          <a:p>
            <a:r>
              <a:rPr lang="en-US" dirty="0" smtClean="0"/>
              <a:t>Second &gt;they </a:t>
            </a:r>
            <a:r>
              <a:rPr lang="en-US" dirty="0"/>
              <a:t>extended support to India on the Kashmir question, describing it an integral part of India. They also supported Afghanistan's irredentist claims on Pakistani territory. </a:t>
            </a:r>
          </a:p>
        </p:txBody>
      </p:sp>
    </p:spTree>
    <p:extLst>
      <p:ext uri="{BB962C8B-B14F-4D97-AF65-F5344CB8AC3E}">
        <p14:creationId xmlns:p14="http://schemas.microsoft.com/office/powerpoint/2010/main" val="2713617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a:t>Pakistan's participation in </a:t>
            </a:r>
            <a:r>
              <a:rPr lang="en-US" dirty="0" err="1"/>
              <a:t>defence</a:t>
            </a:r>
            <a:r>
              <a:rPr lang="en-US" dirty="0"/>
              <a:t> pacts came in conflict with its desire to cultivate close and cordial relations with the Muslim states. With the exception of Iran and Turkey which shared the </a:t>
            </a:r>
            <a:r>
              <a:rPr lang="en-US" dirty="0" err="1"/>
              <a:t>defence</a:t>
            </a:r>
            <a:r>
              <a:rPr lang="en-US" dirty="0"/>
              <a:t> arrangements, the Middle Eastern states responded negatively to Pakistan's security ties with the West. </a:t>
            </a:r>
            <a:endParaRPr lang="en-US" dirty="0" smtClean="0"/>
          </a:p>
          <a:p>
            <a:r>
              <a:rPr lang="en-US" dirty="0"/>
              <a:t>Relations with China&gt; China avoided an open condemnation of Pakistan's participation in these pacts and showed a remarkable understanding of the factors that led Pakistan to join the Western camp. However, Pakistan maintained a safe distance from China and its policy on the seating of China in the UN wavered; it was more in line with the U.S. Perspective. </a:t>
            </a:r>
          </a:p>
        </p:txBody>
      </p:sp>
    </p:spTree>
    <p:extLst>
      <p:ext uri="{BB962C8B-B14F-4D97-AF65-F5344CB8AC3E}">
        <p14:creationId xmlns:p14="http://schemas.microsoft.com/office/powerpoint/2010/main" val="3350245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1962-71: Transition</a:t>
            </a:r>
          </a:p>
        </p:txBody>
      </p:sp>
      <p:sp>
        <p:nvSpPr>
          <p:cNvPr id="3" name="Content Placeholder 2"/>
          <p:cNvSpPr>
            <a:spLocks noGrp="1"/>
          </p:cNvSpPr>
          <p:nvPr>
            <p:ph idx="1"/>
          </p:nvPr>
        </p:nvSpPr>
        <p:spPr/>
        <p:txBody>
          <a:bodyPr/>
          <a:lstStyle/>
          <a:p>
            <a:r>
              <a:rPr lang="en-US" dirty="0"/>
              <a:t>Rethinking about the Alignment Policy&gt;Two major developments contributed to this. First, Pakistan was perturbed by the Soviet threat of retaliation when it downed an American spy plane, U-2, which had taken off from </a:t>
            </a:r>
            <a:r>
              <a:rPr lang="en-US" dirty="0" err="1"/>
              <a:t>Badaber</a:t>
            </a:r>
            <a:r>
              <a:rPr lang="en-US" dirty="0"/>
              <a:t>. Second, the importance of land bases declined because the United States developed ICBM and nuclear submarines fitted with missiles</a:t>
            </a:r>
            <a:r>
              <a:rPr lang="en-US" dirty="0" smtClean="0"/>
              <a:t>.</a:t>
            </a:r>
          </a:p>
          <a:p>
            <a:r>
              <a:rPr lang="en-US" dirty="0" smtClean="0"/>
              <a:t>SINO INDO </a:t>
            </a:r>
            <a:r>
              <a:rPr lang="en-US" dirty="0"/>
              <a:t>WAR&gt;, the U.S. continued with its policy of cultivating India in total disregard to Pakistan's concerns. The U.S. and a number of other Western states rushed weapons and military equipment to India after the Sino-Indian border war in October 1962.</a:t>
            </a:r>
          </a:p>
        </p:txBody>
      </p:sp>
    </p:spTree>
    <p:extLst>
      <p:ext uri="{BB962C8B-B14F-4D97-AF65-F5344CB8AC3E}">
        <p14:creationId xmlns:p14="http://schemas.microsoft.com/office/powerpoint/2010/main" val="3154956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Improving Relations with the Soviet Union&gt;Improving Relations with the Soviet </a:t>
            </a:r>
            <a:r>
              <a:rPr lang="en-US" dirty="0" err="1"/>
              <a:t>Unionoffered</a:t>
            </a:r>
            <a:r>
              <a:rPr lang="en-US" dirty="0"/>
              <a:t>, for the first time, credit and technical assistance for oil exploration in Pakistan. New avenues of cooperation were explored during the visits of Pakistan's Foreign Minister, </a:t>
            </a:r>
            <a:r>
              <a:rPr lang="en-US" dirty="0" err="1"/>
              <a:t>Zulfikar</a:t>
            </a:r>
            <a:r>
              <a:rPr lang="en-US" dirty="0"/>
              <a:t> Ali Bhutto and President </a:t>
            </a:r>
            <a:r>
              <a:rPr lang="en-US" dirty="0" err="1"/>
              <a:t>Ayub</a:t>
            </a:r>
            <a:r>
              <a:rPr lang="en-US" dirty="0"/>
              <a:t> Khan to Moscow in January and April 1965 respectively. </a:t>
            </a:r>
            <a:r>
              <a:rPr lang="en-US" dirty="0" err="1"/>
              <a:t>Ayub</a:t>
            </a:r>
            <a:r>
              <a:rPr lang="en-US" dirty="0"/>
              <a:t> Khan was the first head of Pakistani state to visit the Soviet Union. His visit produced several agreements covering trade, machinery for oil exploration, and cultural exchanges. The Soviet Union consented to assist Pakistan in implementing 30 development projects during the Third Five Year Plan (1965-70</a:t>
            </a:r>
            <a:r>
              <a:rPr lang="en-US" dirty="0" smtClean="0"/>
              <a:t>).</a:t>
            </a:r>
          </a:p>
          <a:p>
            <a:r>
              <a:rPr lang="en-US" dirty="0" smtClean="0"/>
              <a:t>Tashkent Declaration&gt; offer mediation FOR 1965 WAR&gt; neutral approach towards Pak India Dispute.</a:t>
            </a:r>
            <a:endParaRPr lang="en-US" dirty="0"/>
          </a:p>
        </p:txBody>
      </p:sp>
    </p:spTree>
    <p:extLst>
      <p:ext uri="{BB962C8B-B14F-4D97-AF65-F5344CB8AC3E}">
        <p14:creationId xmlns:p14="http://schemas.microsoft.com/office/powerpoint/2010/main" val="2386883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Relations with China</a:t>
            </a:r>
          </a:p>
        </p:txBody>
      </p:sp>
      <p:sp>
        <p:nvSpPr>
          <p:cNvPr id="3" name="Content Placeholder 2"/>
          <p:cNvSpPr>
            <a:spLocks noGrp="1"/>
          </p:cNvSpPr>
          <p:nvPr>
            <p:ph idx="1"/>
          </p:nvPr>
        </p:nvSpPr>
        <p:spPr/>
        <p:txBody>
          <a:bodyPr>
            <a:normAutofit fontScale="92500"/>
          </a:bodyPr>
          <a:lstStyle/>
          <a:p>
            <a:r>
              <a:rPr lang="en-US" dirty="0"/>
              <a:t>Pakistan's relations with China improved more rapidly during the same period. They signed several agreements in 1963 to expand their bilateral relations. These included an agreement on trade, commerce and shipping in January 1963, a border agreement for demarcation of </a:t>
            </a:r>
            <a:r>
              <a:rPr lang="en-US" dirty="0" err="1"/>
              <a:t>PakistanChina</a:t>
            </a:r>
            <a:r>
              <a:rPr lang="en-US" dirty="0"/>
              <a:t> boundary in March 1963, an air services agreement in August, and a barter trade agreement in </a:t>
            </a:r>
            <a:r>
              <a:rPr lang="en-US" dirty="0" smtClean="0"/>
              <a:t>September.</a:t>
            </a:r>
          </a:p>
          <a:p>
            <a:r>
              <a:rPr lang="en-US" dirty="0"/>
              <a:t>Pakistan began to plead for the seating for china in the UN and supported China in its efforts to </a:t>
            </a:r>
            <a:r>
              <a:rPr lang="en-US" dirty="0" err="1"/>
              <a:t>neutralise</a:t>
            </a:r>
            <a:r>
              <a:rPr lang="en-US" dirty="0"/>
              <a:t> American efforts to isolate it at the international level</a:t>
            </a:r>
            <a:r>
              <a:rPr lang="en-US" dirty="0" smtClean="0"/>
              <a:t>.</a:t>
            </a:r>
          </a:p>
          <a:p>
            <a:r>
              <a:rPr lang="en-US" dirty="0"/>
              <a:t>Zhou </a:t>
            </a:r>
            <a:r>
              <a:rPr lang="en-US" dirty="0" err="1"/>
              <a:t>Enlai</a:t>
            </a:r>
            <a:r>
              <a:rPr lang="en-US" dirty="0"/>
              <a:t> declared Chinese support to the right of self determination for the people of Kashmir during his visit to Pakistan in February 1964.</a:t>
            </a:r>
          </a:p>
        </p:txBody>
      </p:sp>
    </p:spTree>
    <p:extLst>
      <p:ext uri="{BB962C8B-B14F-4D97-AF65-F5344CB8AC3E}">
        <p14:creationId xmlns:p14="http://schemas.microsoft.com/office/powerpoint/2010/main" val="903007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Diminishing Ties with the U.S&gt;The United States was unhappy over Pakistani's efforts to improve its relations with the Soviet Union and China</a:t>
            </a:r>
            <a:r>
              <a:rPr lang="en-US" dirty="0" smtClean="0"/>
              <a:t>.</a:t>
            </a:r>
          </a:p>
          <a:p>
            <a:r>
              <a:rPr lang="en-US" dirty="0"/>
              <a:t>The divergence between the two states widened as Pakistan was unable to invoke any security arrangement with the United States during the course of its war with India in September 1965. The United States imposed an arms embargo on South Asia which adversely affected Pakistan's combat effectiveness because, unlike India, Pakistan's </a:t>
            </a:r>
            <a:r>
              <a:rPr lang="en-US" dirty="0" err="1"/>
              <a:t>defence</a:t>
            </a:r>
            <a:r>
              <a:rPr lang="en-US" dirty="0"/>
              <a:t> procurement was almost entirely American</a:t>
            </a:r>
            <a:r>
              <a:rPr lang="en-US" dirty="0" smtClean="0"/>
              <a:t>.</a:t>
            </a:r>
          </a:p>
          <a:p>
            <a:r>
              <a:rPr lang="en-US" dirty="0"/>
              <a:t>Pluralistic Perspective&gt;moved away from the policy of alignment with the West to an independent and pluralist perspective on foreign relations. It vowed to cultivate mutually advantageous bilateral relations with all states irrespective of their ideological disposition and argued that its interaction with one state would neither influence its relations with any other state nor were these ties directed against any particular state. </a:t>
            </a:r>
            <a:r>
              <a:rPr lang="en-US" dirty="0" smtClean="0"/>
              <a:t>expanding </a:t>
            </a:r>
            <a:r>
              <a:rPr lang="en-US" dirty="0"/>
              <a:t>its relations with the Soviet Union and China,</a:t>
            </a:r>
          </a:p>
        </p:txBody>
      </p:sp>
    </p:spTree>
    <p:extLst>
      <p:ext uri="{BB962C8B-B14F-4D97-AF65-F5344CB8AC3E}">
        <p14:creationId xmlns:p14="http://schemas.microsoft.com/office/powerpoint/2010/main" val="32856886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TotalTime>
  <Words>2583</Words>
  <Application>Microsoft Office PowerPoint</Application>
  <PresentationFormat>Widescreen</PresentationFormat>
  <Paragraphs>101</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Wingdings</vt:lpstr>
      <vt:lpstr>Office Theme</vt:lpstr>
      <vt:lpstr>Foreign policy</vt:lpstr>
      <vt:lpstr>Foreign Policy</vt:lpstr>
      <vt:lpstr>Foreign policy of Pakistan Objectives &amp;Principles of Pakistan foreign Policy </vt:lpstr>
      <vt:lpstr> The Founding Father Vision </vt:lpstr>
      <vt:lpstr>PowerPoint Presentation</vt:lpstr>
      <vt:lpstr>Muslim world</vt:lpstr>
      <vt:lpstr>PowerPoint Presentation</vt:lpstr>
      <vt:lpstr>PHASES OF PAKISTAN’S FOREIGN POLICY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1953-62: Alignment with the West</vt:lpstr>
      <vt:lpstr>PowerPoint Presentation</vt:lpstr>
      <vt:lpstr>Mutual Defence Assistance Agreement</vt:lpstr>
      <vt:lpstr>SEATO</vt:lpstr>
      <vt:lpstr>The Baghdad Pact/CENTO</vt:lpstr>
      <vt:lpstr>Defence and Economic Assistance from the U.S.A</vt:lpstr>
      <vt:lpstr>Benefits</vt:lpstr>
      <vt:lpstr>cost</vt:lpstr>
      <vt:lpstr>PowerPoint Presentation</vt:lpstr>
      <vt:lpstr>1962-71: Transition</vt:lpstr>
      <vt:lpstr>PowerPoint Presentation</vt:lpstr>
      <vt:lpstr>Improving Relations with China</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Forign Polocy</dc:title>
  <dc:creator>tanzeela naz</dc:creator>
  <cp:lastModifiedBy>tanzeela naz</cp:lastModifiedBy>
  <cp:revision>20</cp:revision>
  <dcterms:created xsi:type="dcterms:W3CDTF">2020-10-18T10:42:52Z</dcterms:created>
  <dcterms:modified xsi:type="dcterms:W3CDTF">2021-01-05T11:19:40Z</dcterms:modified>
</cp:coreProperties>
</file>